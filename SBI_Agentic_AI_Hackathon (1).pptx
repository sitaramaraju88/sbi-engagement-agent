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SBI has 500M+ customers but most are digitally passive. This system uses 3 AI agents to proactively engage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pain point: customers log in, check balance, leave. They don't invest, don't use SIP, don't explore features. The bank has no proactive mechanism to change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truly agentic: autonomous planning, multi-agent delegation, persistent goal tracking. Not just a chatbot or notification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demo point: run the same pipeline for Rohan (student, age 20, zero income) and show AI gives LOW risk appetite — not because of a rule, but because LLM reasoned across income + goals + balance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judges: every concern has a built-in answer. Privacy → consent dashboard. Wrong recommendations → reserve buffer. Compliance → 3-tier model. Hallucinations → domain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tools are free. Groq gives the fastest free LLM inference available. LangChain handles agent orchestration. Streamlit makes the demo visual and interactive.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impact: this isn't just a product-selling tool. It improves genuine financial wellness. SBI wins when customers win — that's the value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66CC">
              <a:alpha val="30000"/>
            </a:srgbClr>
          </a:solidFill>
          <a:ln w="12700">
            <a:solidFill>
              <a:srgbClr val="0066C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066CC">
              <a:alpha val="25000"/>
            </a:srgbClr>
          </a:solidFill>
          <a:ln w="12700">
            <a:solidFill>
              <a:srgbClr val="0066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657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SBI HACKATHON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Digital Engagement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500M+ passive users into financially empowered customers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2926080" cy="384048"/>
          </a:xfrm>
          <a:prstGeom prst="roundRect">
            <a:avLst>
              <a:gd name="adj" fmla="val 47619"/>
            </a:avLst>
          </a:prstGeom>
          <a:solidFill>
            <a:srgbClr val="0066CC">
              <a:alpha val="40000"/>
            </a:srgbClr>
          </a:solidFill>
          <a:ln w="12700">
            <a:solidFill>
              <a:srgbClr val="0066CC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🔍 Behavioral Intelligence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3337560"/>
            <a:ext cx="2926080" cy="384048"/>
          </a:xfrm>
          <a:prstGeom prst="roundRect">
            <a:avLst>
              <a:gd name="adj" fmla="val 47619"/>
            </a:avLst>
          </a:prstGeom>
          <a:solidFill>
            <a:srgbClr val="0066CC">
              <a:alpha val="40000"/>
            </a:srgbClr>
          </a:solidFill>
          <a:ln w="12700">
            <a:solidFill>
              <a:srgbClr val="0066C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Proactive Advisor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337560"/>
            <a:ext cx="2926080" cy="384048"/>
          </a:xfrm>
          <a:prstGeom prst="roundRect">
            <a:avLst>
              <a:gd name="adj" fmla="val 47619"/>
            </a:avLst>
          </a:prstGeom>
          <a:solidFill>
            <a:srgbClr val="0066CC">
              <a:alpha val="40000"/>
            </a:srgbClr>
          </a:solidFill>
          <a:ln w="12700">
            <a:solidFill>
              <a:srgbClr val="0066C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⚡ Autonomous 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V Sita Rama Raju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KL University, Hyderabad  ·  B.Tech Computer Science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920240" cy="256032"/>
          </a:xfrm>
          <a:prstGeom prst="roundRect">
            <a:avLst>
              <a:gd name="adj" fmla="val 35714"/>
            </a:avLst>
          </a:prstGeom>
          <a:solidFill>
            <a:srgbClr val="00336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LangChain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4709160"/>
            <a:ext cx="1920240" cy="256032"/>
          </a:xfrm>
          <a:prstGeom prst="roundRect">
            <a:avLst>
              <a:gd name="adj" fmla="val 35714"/>
            </a:avLst>
          </a:prstGeom>
          <a:solidFill>
            <a:srgbClr val="00336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Groq LLaMA 3.3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4709160"/>
            <a:ext cx="1920240" cy="256032"/>
          </a:xfrm>
          <a:prstGeom prst="roundRect">
            <a:avLst>
              <a:gd name="adj" fmla="val 35714"/>
            </a:avLst>
          </a:prstGeom>
          <a:solidFill>
            <a:srgbClr val="00336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Streamlit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4709160"/>
            <a:ext cx="1920240" cy="256032"/>
          </a:xfrm>
          <a:prstGeom prst="roundRect">
            <a:avLst>
              <a:gd name="adj" fmla="val 35714"/>
            </a:avLst>
          </a:prstGeom>
          <a:solidFill>
            <a:srgbClr val="00336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Python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SBI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are digitally present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but financially passive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No Proactive Outreach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1508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waits for the customer to act. Opportunities missed daily.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🔕  Generic Notifications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508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alerts get ignored. Response rate below 20%.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24688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118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No Goal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880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understands individual financial goals or acts on them.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Missed 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880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FDs, SIPs, insurance that would help customers go unnoticed.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feature adoption · Poor retention · Missed financial wellness · Lost revenue for SBI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3-AGENT AGENTIC AI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100584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005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SBI Customer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0" cy="32004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965960"/>
            <a:ext cx="4023360" cy="594360"/>
          </a:xfrm>
          <a:prstGeom prst="roundRect">
            <a:avLst>
              <a:gd name="adj" fmla="val 18462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965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Engagement Orchestrator  —  Plans · Delegates · Tracks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25603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603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25603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26080"/>
            <a:ext cx="2377440" cy="1645920"/>
          </a:xfrm>
          <a:prstGeom prst="roundRect">
            <a:avLst>
              <a:gd name="adj" fmla="val 8333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999232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Behavioral Intelligence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Detects disengagement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581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Calculates risk appetite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0873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Scores 0–100 per customer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926080"/>
            <a:ext cx="2377440" cy="1645920"/>
          </a:xfrm>
          <a:prstGeom prst="roundRect">
            <a:avLst>
              <a:gd name="adj" fmla="val 8333"/>
            </a:avLst>
          </a:prstGeom>
          <a:solidFill>
            <a:srgbClr val="0D7D59"/>
          </a:solidFill>
          <a:ln w="12700">
            <a:solidFill>
              <a:srgbClr val="0D7D5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93008" y="2999232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Proactive Advisor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4290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Personalized nudges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7581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Goal-based recommendations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40873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LLM-generated messages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926080"/>
            <a:ext cx="2377440" cy="164592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0528" y="2999232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Autonomous 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4290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 check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37581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Execute or seek approval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40873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Immutable audit trail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Measurable Outcome: ↑ Feature Adoption  ·  ↑ Retention  ·  ↑ Financial Wellness Score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AGENT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502920" cy="50292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1155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Intelligence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1051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raw customer data — no pre-labels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last login, idle balance, notification 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23697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calculates risk appetite holistically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95020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disengagement score + risk appetite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502920" cy="502920"/>
          </a:xfrm>
          <a:prstGeom prst="ellipse">
            <a:avLst/>
          </a:prstGeom>
          <a:solidFill>
            <a:srgbClr val="0D7D59"/>
          </a:solidFill>
          <a:ln w="12700">
            <a:solidFill>
              <a:srgbClr val="0D7D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59352" y="11155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Advisor 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169164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81051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Behavioral Agent's full report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252374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investable surplus (balance − buffer)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323697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recommendations to goals + risk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95020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personalized message (&lt;100 words)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100584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10972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31152" y="11155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 Agent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169164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1051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3-tier compliance check on every action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252374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Execute autonomously (FD sweep)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323697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Send for customer approval (SIP/RD)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395020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immutable audit trail with timestamp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2381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</a:rPr>
              <a:t>Why not rules?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Rules prioritize but cannot: generate human-sounding messages · reason across conflicting signals · explain decisions in plain language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COMPLIANCE &amp; SAFETY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Privacy-First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2704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Consent dashboard — toggle per data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 sees anonymized signals only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data stays within SBI 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One-tap revocation anytime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Liquidity-Aware Engine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52704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184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Reserve buffer = 1.5× recurring expenses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88366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only touches investable surplus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14884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30-day cash flow projection before 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41401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Zero-touch on safety reserve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017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3-Tier Compliance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40156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930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Tier 1: Inform only — no 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5818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Tier 2: Suggest + one-tap approval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Tier 3: Pre-signed standing instructions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885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audit log on every 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017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AI Safety Guardrails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340156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930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Domain-constrained LLM outputs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75818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Approved product whitelist enforced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02336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Explainable reason for every nudge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2885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classifier before delivery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23810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"The AI's job is to reduce the cognitive load of managing money — never to replace human judgment."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6128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612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LangChain — Agent orchestration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Groq API — Free LLM inference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LLaMA 3.3 70B — Core reasoning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16128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0D7D59"/>
          </a:solidFill>
          <a:ln w="12700">
            <a:solidFill>
              <a:srgbClr val="0D7D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612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Logic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— Core language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19293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Financial Tools — Balance, compliance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2585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Rule engine — Audit &amp; tier checks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99008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JSON dataset — Customer profiles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581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FAISS — Vector store for RAG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0873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pre-labels — AI detects all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2990088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UI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4290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Streamlit — Web prototype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37581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st.cache_data — Performance cache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40873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agent progress display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645152"/>
            <a:ext cx="8595360" cy="402336"/>
          </a:xfrm>
          <a:prstGeom prst="roundRect">
            <a:avLst>
              <a:gd name="adj" fmla="val 22727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4515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</a:rPr>
              <a:t>100% Free &amp; Open Source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·  Groq free tier  ·  LangChain OSS  ·  Streamlit free  ·  No cloud costs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66CC">
              <a:alpha val="20000"/>
            </a:srgbClr>
          </a:solidFill>
          <a:ln w="12700">
            <a:solidFill>
              <a:srgbClr val="0066C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66CC">
              <a:alpha val="15000"/>
            </a:srgbClr>
          </a:solidFill>
          <a:ln w="12700">
            <a:solidFill>
              <a:srgbClr val="0066C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KPIs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Projected targets based on industry benchmarks — McKinsey &amp; Bain fintech studies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011680" cy="1920240"/>
          </a:xfrm>
          <a:prstGeom prst="roundRect">
            <a:avLst>
              <a:gd name="adj" fmla="val 7143"/>
            </a:avLst>
          </a:prstGeom>
          <a:solidFill>
            <a:srgbClr val="0066CC">
              <a:alpha val="25000"/>
            </a:srgbClr>
          </a:solidFill>
          <a:ln w="12700">
            <a:solidFill>
              <a:srgbClr val="0066C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↑ Feature Adoption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Personalized nudges lift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engagement 35-45%*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1280160"/>
            <a:ext cx="2011680" cy="1920240"/>
          </a:xfrm>
          <a:prstGeom prst="roundRect">
            <a:avLst>
              <a:gd name="adj" fmla="val 7143"/>
            </a:avLst>
          </a:prstGeom>
          <a:solidFill>
            <a:srgbClr val="0066CC">
              <a:alpha val="25000"/>
            </a:srgbClr>
          </a:solidFill>
          <a:ln w="12700">
            <a:solidFill>
              <a:srgbClr val="0066C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96312" y="2121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↑ Retention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Proactive engagement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reduces churn 25-35%*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1280160"/>
            <a:ext cx="2011680" cy="1920240"/>
          </a:xfrm>
          <a:prstGeom prst="roundRect">
            <a:avLst>
              <a:gd name="adj" fmla="val 7143"/>
            </a:avLst>
          </a:prstGeom>
          <a:solidFill>
            <a:srgbClr val="0066CC">
              <a:alpha val="25000"/>
            </a:srgbClr>
          </a:solidFill>
          <a:ln w="12700">
            <a:solidFill>
              <a:srgbClr val="0066C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72584" y="2121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Notification Response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72584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Event-triggered beats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generic alerts by 2-4×*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48856" y="1280160"/>
            <a:ext cx="2011680" cy="1920240"/>
          </a:xfrm>
          <a:prstGeom prst="roundRect">
            <a:avLst>
              <a:gd name="adj" fmla="val 7143"/>
            </a:avLst>
          </a:prstGeom>
          <a:solidFill>
            <a:srgbClr val="0066CC">
              <a:alpha val="25000"/>
            </a:srgbClr>
          </a:solidFill>
          <a:ln w="12700">
            <a:solidFill>
              <a:srgbClr val="0066CC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48856" y="2121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Audit Compliance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48856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Every action logged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with timestamp 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01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Customer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7673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</a:rPr>
              <a:t>✓  Emergency fund progress tracking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0142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</a:rPr>
              <a:t>✓  Debt-to-income ratio improvement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2611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</a:rPr>
              <a:t>✓  Goal completion milestones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5079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</a:rPr>
              <a:t>✓  Personalized financial coaching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33756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66CC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401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SBI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7673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</a:rPr>
              <a:t>✓  ↑ Product cross-sell per customer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0142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</a:rPr>
              <a:t>✓  ↑ Monthly active user depth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2611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</a:rPr>
              <a:t>✓  ↓ Customer acquisition cost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5079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8FF"/>
                </a:solidFill>
              </a:rPr>
              <a:t>✓  ↑ Customer lifetime value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736592"/>
            <a:ext cx="8503920" cy="347472"/>
          </a:xfrm>
          <a:prstGeom prst="roundRect">
            <a:avLst>
              <a:gd name="adj" fmla="val 39474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736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</a:rPr>
              <a:t>Success = Customer Outcomes, Not Just Bank Revenue     </a:t>
            </a:r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*McKinsey Banking 2023 · Bain Fintech Report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SBI Agentic AI - Digital Engagement System</dc:title>
  <dc:subject>PptxGenJS Presentation</dc:subject>
  <dc:creator>M V Sita Rama Raju</dc:creator>
  <cp:lastModifiedBy>M V Sita Rama Raju</cp:lastModifiedBy>
  <cp:revision>1</cp:revision>
  <dcterms:created xsi:type="dcterms:W3CDTF">2026-06-26T11:36:23Z</dcterms:created>
  <dcterms:modified xsi:type="dcterms:W3CDTF">2026-06-26T11:36:23Z</dcterms:modified>
</cp:coreProperties>
</file>